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6"/>
    <a:srgbClr val="D09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95E48-CB2A-432C-89C8-9CB94C076F95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359B0-06E5-4E75-8AE1-4F381543800B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git diff shows line changes but misses behavioral impact — the gap CodeLens addresses.
- All results are deterministic and derived from program structure; no AI, no ML.
- CodeLens supports a subset of C, parsed by a self-built compiler front end.
- Reaching-definitions and def-use chains form the data-flow backbone of the analysis.
- Two-part capability: explain the program, then analyze the impact of any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everyday problem: engineers inherit code and must understand + predict change impact.
- git diff, tests, and reading only show surface changes — none explain behavior or trace impact.
- The same compiler structures used for code generation (AST, CFG, def-use chains) can be repurposed.
- CodeLens is deterministic — no AI, no guessing; every conclusion traces back to a compiler fact.
- Closing idea: turn compiler IR into explanation + behavioral impact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git diff: textual only — no semantic or behavioral view of the change.
- Doxygen documents intent; SonarQube flags issues — neither explains the program.
- IDE refactors handle syntactic transforms but emit no impact report on conditions or paths.
- GumTree (Falleri et al., ASE 2014) is the closest related work — AST-level diffing.
- CodeLens differentiates by propagating AST changes through CFG + def-use chains, then summarizing behavioral consequences.
- Theory foundation: the Dragon Book (Aho et al.) and Muchnick for compiler/data-flow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objective clusters: code understanding + change impact analysis.
- Code understanding builds the front end (lexer, parser, AST, symbol table) and reaches a plain-language explanation.
- Change impact compares before/after AST + CFG and propagates changes through control and data dependencies.
- Data-flow techniques used by name: reaching definitions and def-use chains.
- Boundary-case detection is what makes the impact report genuinely useful; every result is deterministic — no AI, no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Nine-stage pipeline: lex → parse → AST → symbol table → TAC → CFG → data-flow → explanation → impact.
- Steps 1–7 are a standard compiler front end + IR + analysis pipeline.
- Steps 8 and 9 are the project's novel contributions layered on top of the standard pipeline.
- Step 9 specifically compares AST and CFG pairs and follows def-use chains to propagate changes.
- Each stage maps directly to a Compiler Design course topic — the deck doubles as a course coverage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Five layers, top → bottom: UI → Application → Analysis → IR → Compiler Front End.
- Front-end, IR, and analysis layers are the reusable compiler core.
- Application and UI layers are where the project's user-facing contribution sits.
- Inputs (source, edits) flow downward through the layers.
- Reports and visualizations flow back upward to the UI layer for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Stack chosen for student-laptop modesty: React frontend + Python Flask backend.
- PLY (Python Lex-Yacc) chosen so lexer/parser stay inside the Python backend; ANTLR4 is a fallback.
- Monaco Editor gives a familiar VS Code-like editing experience in the browser.
- Graphviz renders CFG/AST; D3.js optional for richer interaction.
- System is CPU-bound, not GPU-bound — analysis runs in milliseconds for typical student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Project is fully compiler-based — no AI or machine learning involved.
- Two deliverables: explanation engine and change impact report.
- Every conclusion traces back to a CFG or def-use fact (deterministic and auditable).
- Future work: pointer analysis, inter-procedural analysis, additional languages.
- One-line pitch: understand your code, change your code, know the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Dragon Book (Aho et al.) is the primary theory source for AST, CFG, and data-flow.
- GumTree (Falleri et al., ASE 2014) is the closest related work on AST-level differencing.
- git-diff is the baseline tool whose gap — no behavioral view — CodeLens addresses.
- PLY / ANTLR references justify the in-Python compiler front-end implementation.
- Doxygen is referenced for contrast — it documents intent rather than analyzing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panel and the guide for their time and feedback.
- Invite questions on any pipeline stage — lexing, parsing, AST, CFG, data-flow, or impact analysis.
- Offer to walk through a live example if time permits (AST / CFG / impact report).
- Acknowledge the team and reiterate the one-line pitch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75" y="191135"/>
            <a:ext cx="7818120" cy="11220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2100" b="1" dirty="0">
                <a:solidFill>
                  <a:srgbClr val="FF0000"/>
                </a:solidFill>
              </a:rPr>
              <a:t>           CodeLens — Code Understanding &amp; Impact Analysis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                                                                                </a:t>
            </a:r>
            <a:br>
              <a:rPr lang="en-US" sz="1200" dirty="0"/>
            </a:br>
            <a:r>
              <a:rPr lang="en-US" sz="1200" dirty="0"/>
              <a:t>                                                                      </a:t>
            </a:r>
            <a:br>
              <a:rPr lang="en-US" sz="1200" dirty="0"/>
            </a:br>
            <a:br>
              <a:rPr lang="en-IN" sz="1200" dirty="0"/>
            </a:br>
            <a:endParaRPr lang="en-IN" sz="10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MAPS &amp; DIRECTIONS - Best Private University in Telangana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275" y="3427152"/>
            <a:ext cx="2355118" cy="1395264"/>
          </a:xfrm>
          <a:prstGeom prst="rect">
            <a:avLst/>
          </a:prstGeom>
        </p:spPr>
      </p:pic>
      <p:sp>
        <p:nvSpPr>
          <p:cNvPr id="4" name="Text 6"/>
          <p:cNvSpPr/>
          <p:nvPr/>
        </p:nvSpPr>
        <p:spPr>
          <a:xfrm>
            <a:off x="3561604" y="2498403"/>
            <a:ext cx="2020323" cy="8268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535"/>
              </a:lnSpc>
              <a:buSzPct val="100000"/>
            </a:pPr>
            <a:r>
              <a:rPr lang="en-US" sz="1100" dirty="0">
                <a:latin typeface="Calibri" panose="020F0502020204030204"/>
                <a:ea typeface="Calibri" panose="020F0502020204030204"/>
                <a:cs typeface="Calibri" panose="020F0502020204030204"/>
              </a:rPr>
              <a:t>Bhanu Prakash— 2420030209</a:t>
            </a:r>
            <a:endParaRPr lang="en-US" sz="11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ts val="1535"/>
              </a:lnSpc>
              <a:buSzPct val="100000"/>
            </a:pPr>
            <a:r>
              <a:rPr lang="en-US" sz="1100" dirty="0">
                <a:latin typeface="Calibri" panose="020F0502020204030204"/>
                <a:ea typeface="Calibri" panose="020F0502020204030204"/>
                <a:cs typeface="Calibri" panose="020F0502020204030204"/>
              </a:rPr>
              <a:t>Krishita Myneni— 2420030443</a:t>
            </a:r>
            <a:endParaRPr lang="en-US" sz="11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ts val="1535"/>
              </a:lnSpc>
              <a:buSzPct val="100000"/>
            </a:pPr>
            <a:r>
              <a:rPr lang="en-US" sz="1100" dirty="0">
                <a:latin typeface="Calibri" panose="020F0502020204030204"/>
                <a:ea typeface="Calibri" panose="020F0502020204030204"/>
                <a:cs typeface="Calibri" panose="020F0502020204030204"/>
              </a:rPr>
              <a:t>Laasya Priya— 2420030002</a:t>
            </a:r>
            <a:endParaRPr lang="en-US" sz="11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ts val="1535"/>
              </a:lnSpc>
              <a:buSzPct val="100000"/>
            </a:pPr>
            <a:r>
              <a:rPr lang="en-US" sz="1100" dirty="0">
                <a:latin typeface="Calibri" panose="020F0502020204030204"/>
                <a:ea typeface="Calibri" panose="020F0502020204030204"/>
                <a:cs typeface="Calibri" panose="020F0502020204030204"/>
              </a:rPr>
              <a:t>Lakshman— 2420030067</a:t>
            </a:r>
            <a:endParaRPr lang="en-US" sz="11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45055" y="897255"/>
            <a:ext cx="44538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sym typeface="+mn-ea"/>
              </a:rPr>
              <a:t>  Department of CSE</a:t>
            </a:r>
            <a:br>
              <a:rPr lang="en-US" sz="1200" dirty="0">
                <a:solidFill>
                  <a:srgbClr val="FF0000"/>
                </a:solidFill>
                <a:sym typeface="+mn-ea"/>
              </a:rPr>
            </a:br>
            <a:r>
              <a:rPr lang="en-US" sz="1200" dirty="0">
                <a:solidFill>
                  <a:srgbClr val="FF0000"/>
                </a:solidFill>
                <a:sym typeface="+mn-ea"/>
              </a:rPr>
              <a:t>  COURSE: COMPILER DESIGN –(24CS2235F)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sym typeface="+mn-ea"/>
              </a:rPr>
              <a:t> SECTION-2</a:t>
            </a:r>
          </a:p>
          <a:p>
            <a:pPr algn="ctr"/>
            <a:r>
              <a:rPr lang="en-US" sz="1200" dirty="0">
                <a:solidFill>
                  <a:schemeClr val="accent1"/>
                </a:solidFill>
                <a:sym typeface="+mn-ea"/>
              </a:rPr>
              <a:t>Team-9</a:t>
            </a:r>
            <a:br>
              <a:rPr lang="en-US" sz="1200" dirty="0">
                <a:solidFill>
                  <a:schemeClr val="accent1"/>
                </a:solidFill>
                <a:sym typeface="+mn-ea"/>
              </a:rPr>
            </a:br>
            <a:r>
              <a:rPr lang="en-US" sz="1200" dirty="0">
                <a:solidFill>
                  <a:schemeClr val="accent1"/>
                </a:solidFill>
                <a:sym typeface="+mn-ea"/>
              </a:rPr>
              <a:t>    </a:t>
            </a:r>
            <a:r>
              <a:rPr lang="en-IN" sz="1200" dirty="0">
                <a:solidFill>
                  <a:srgbClr val="FF0000"/>
                </a:solidFill>
                <a:sym typeface="+mn-ea"/>
              </a:rPr>
              <a:t>Under the Guidance of</a:t>
            </a:r>
            <a:r>
              <a:rPr lang="en-US" sz="1200" dirty="0">
                <a:solidFill>
                  <a:srgbClr val="FF0000"/>
                </a:solidFill>
                <a:sym typeface="+mn-ea"/>
              </a:rPr>
              <a:t>: Dr. V. Anu Ragavi</a:t>
            </a:r>
            <a:endParaRPr lang="en-US" sz="1200"/>
          </a:p>
        </p:txBody>
      </p:sp>
      <p:sp>
        <p:nvSpPr>
          <p:cNvPr id="6" name="Text Box 5"/>
          <p:cNvSpPr txBox="1"/>
          <p:nvPr/>
        </p:nvSpPr>
        <p:spPr>
          <a:xfrm>
            <a:off x="3630930" y="2221230"/>
            <a:ext cx="18776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4350" y="587057"/>
            <a:ext cx="8629650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00" kern="0" spc="-20" dirty="0">
                <a:solidFill>
                  <a:srgbClr val="0F2A4A"/>
                </a:solidFill>
                <a:latin typeface="Tinos"/>
                <a:ea typeface="Tinos"/>
              </a:rPr>
              <a:t>Contents</a:t>
            </a:r>
            <a:endParaRPr lang="en-US" sz="2000" kern="0" spc="-20" dirty="0">
              <a:solidFill>
                <a:srgbClr val="0F2A4A"/>
              </a:solidFill>
              <a:latin typeface="Tino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514822" y="1220932"/>
            <a:ext cx="4572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/>
              <a:t>1. Abstract</a:t>
            </a:r>
          </a:p>
          <a:p>
            <a:r>
              <a:rPr lang="en-US" dirty="0"/>
              <a:t>2. Introduction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3. Literature Survey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4. Objectives</a:t>
            </a:r>
          </a:p>
          <a:p>
            <a:r>
              <a:rPr lang="en-US" dirty="0"/>
              <a:t>5. Proposed Methodology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6. Architecture of Proposed Methodology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7. System S/w &amp; H/w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8. Conclusion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9. References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</p:txBody>
      </p:sp>
      <p:pic>
        <p:nvPicPr>
          <p:cNvPr id="4" name="Picture 3" descr="MAPS &amp; DIRECTIONS - Best Private University in Telangana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425" y="-118303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ABSTRACT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Abstract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268148"/>
            <a:ext cx="4869135" cy="2340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Working with code written by others is slow, and changing that code is riskier still. Tools like </a:t>
            </a:r>
            <a:r>
              <a:rPr lang="en-US" sz="1050" dirty="0">
                <a:solidFill>
                  <a:srgbClr val="0F2A4A"/>
                </a:solidFill>
                <a:latin typeface="Courier New" panose="02070309020205020404"/>
                <a:ea typeface="Courier New" panose="02070309020205020404" pitchFamily="34" charset="-122"/>
                <a:cs typeface="Courier New" panose="02070309020205020404"/>
              </a:rPr>
              <a:t>git diff</a:t>
            </a:r>
            <a:r>
              <a:rPr lang="en-US" sz="105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 show which lines were edited, but not what else in the program depends on those lines or whether the program now behaves differently. CodeLens closes this gap using compiler techniques — no AI, no machine learning. Every result is derived from analysing the structure of the program itself. The user pastes or uploads a C program; CodeLens runs it through a self-built compiler front end, builds an AST, symbol table, TAC, basic blocks, CFG and data-flow results, then produces a plain-language explanation and a change impact report.</a:t>
            </a:r>
            <a:endParaRPr lang="en-US" sz="1050">
              <a:latin typeface="Carlit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55880" y="819451"/>
            <a:ext cx="3246053" cy="3508363"/>
          </a:xfrm>
          <a:prstGeom prst="roundRect">
            <a:avLst>
              <a:gd name="adj" fmla="val 2347"/>
            </a:avLst>
          </a:prstGeom>
          <a:solidFill>
            <a:srgbClr val="F2EF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74916" y="1000583"/>
            <a:ext cx="2817428" cy="111871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IDEA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74916" y="1380226"/>
            <a:ext cx="2817428" cy="9639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200" i="1" dirty="0">
                <a:solidFill>
                  <a:srgbClr val="0F2A4A"/>
                </a:solidFill>
                <a:latin typeface="Tinos" pitchFamily="34" charset="0"/>
                <a:ea typeface="Tinos"/>
                <a:cs typeface="Tinos" pitchFamily="34" charset="-120"/>
              </a:rPr>
              <a:t>Give the system code → understand the code → explain how it works → let the user modify it → analyze what changed and what is affected.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11</a:t>
            </a:r>
            <a:endParaRPr lang="en-US" sz="620" dirty="0"/>
          </a:p>
        </p:txBody>
      </p:sp>
      <p:pic>
        <p:nvPicPr>
          <p:cNvPr id="7" name="Picture 6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Introduction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734" y="1229538"/>
            <a:ext cx="7858125" cy="5623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Software engineers routinely inherit code written by others. Before changing a single line they must answer two questions: what does this program actually do, and if I change this, what else will move? Today these questions are answered by reading code, running tests, and inspecting line-level diffs. None of these tools explain the program or trace the behavioral consequences of a change.</a:t>
            </a:r>
            <a:endParaRPr lang="en-US" sz="1050">
              <a:latin typeface="Carlit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6521" y="2086095"/>
            <a:ext cx="2593181" cy="1289839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55" y="2246830"/>
            <a:ext cx="2271713" cy="2532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dirty="0">
                <a:solidFill>
                  <a:srgbClr val="E8B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617255" y="2489717"/>
            <a:ext cx="2271713" cy="2023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255" y="2714745"/>
            <a:ext cx="2271713" cy="4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 diff shows which lines changed. It does not show which variables, conditions, or execution paths are affected.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14008" y="2086095"/>
            <a:ext cx="2593181" cy="1289839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4743" y="2246830"/>
            <a:ext cx="2271713" cy="2532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dirty="0">
                <a:solidFill>
                  <a:srgbClr val="E8B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3374743" y="2489717"/>
            <a:ext cx="2271713" cy="2023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RISK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74743" y="2714745"/>
            <a:ext cx="2271713" cy="4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edits to a condition can silently flip program behavior at boundary values. Reviewers rarely catch these manually.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71496" y="2086095"/>
            <a:ext cx="2593181" cy="1289839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2230" y="2246830"/>
            <a:ext cx="2271713" cy="2532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dirty="0">
                <a:solidFill>
                  <a:srgbClr val="E8B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132230" y="2489717"/>
            <a:ext cx="2271712" cy="2023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32230" y="2714745"/>
            <a:ext cx="2271713" cy="4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compiler already builds the structures — AST, CFG, def-use chains — needed to answer these questions precisely.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2949" y="3656046"/>
            <a:ext cx="200025" cy="52073"/>
          </a:xfrm>
          <a:prstGeom prst="rect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2987" y="3556033"/>
            <a:ext cx="7815263" cy="454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i="1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CodeLens turns the compiler’s internal representations into a human-readable explanation of the program — and a behavioral impact report for every change.</a:t>
            </a:r>
            <a:endParaRPr lang="en-US" sz="1015" dirty="0"/>
          </a:p>
        </p:txBody>
      </p:sp>
      <p:sp>
        <p:nvSpPr>
          <p:cNvPr id="20" name="Shape 18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11</a:t>
            </a:r>
            <a:endParaRPr lang="en-US" sz="620" dirty="0"/>
          </a:p>
        </p:txBody>
      </p:sp>
      <p:pic>
        <p:nvPicPr>
          <p:cNvPr id="24" name="Picture 23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LITERATURE SURVEY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521065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Literature Survey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11</a:t>
            </a:r>
            <a:endParaRPr lang="en-US" sz="620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38912" y="1353312"/>
          <a:ext cx="818388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TITLE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AUTHOR, YEAR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WHAT IT DOES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LIMITATION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Compilers: Principles, Techniques, and Tools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Aho, Lam, Sethi &amp; Ullman, 2007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Covers compiler theory and practice, including lexical analysis, parsing, semantic analysis and optimization.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Provides compiler foundations; does not directly provide a code-change impact report for developers.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Engineering a Compiler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Cooper &amp; Torczon, 2011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Explains practical compiler construction, optimization, data-flow techniques and code generation.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Focuses on building compilers rather than explaining program behavior after source-code changes.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Advanced Compiler Design and Implementation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Muchnick, 1997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Presents advanced compiler techniques, optimization and implementation strategies for real-world compilers.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Emphasizes compiler implementation and optimization; no integrated behavioral change-impact analysis.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Fine-grained and Accurate Source Code Differencing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Falleri et al., 2014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Computes fine-grained AST-level edit scripts, including move actions, to represent source-code changes.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Identifies structural edits but does not propagate their effects through CFG and data-flow dependencies.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Generic Language Technology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Apted &amp; Kay, 2014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Introduces generic language-technology ideas supporting reusable parsing and language-processing tools.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Supports language processing but does not itself provide program explanation or behavioral impact analysis.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629650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Objectives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5050"/>
            <a:ext cx="811530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8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has two primary capabilities, supported by a set of concrete technical objectives.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398449"/>
            <a:ext cx="3860814" cy="197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1100" kern="0" spc="-6" dirty="0">
                <a:solidFill>
                  <a:schemeClr val="accent2"/>
                </a:solidFill>
                <a:latin typeface="Tinos"/>
                <a:ea typeface="Tinos" pitchFamily="34" charset="-122"/>
                <a:cs typeface="Tinos" pitchFamily="34" charset="-120"/>
              </a:rPr>
              <a:t>① Code Understanding &amp; Explanation</a:t>
            </a:r>
            <a:endParaRPr lang="en-US" sz="1100">
              <a:solidFill>
                <a:schemeClr val="accent2"/>
              </a:solidFill>
              <a:highlight>
                <a:srgbClr val="D09C6B"/>
              </a:highlight>
              <a:latin typeface="Tin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4350" y="1705630"/>
            <a:ext cx="3857625" cy="19558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Build a compiler front end (lexer, parser, AST, symbol table) for a subset of C.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Generate Three Address Code, partition it into basic blocks, and connect them into a Control Flow Graph.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Run data-flow analysis — reaching definitions and def-use chains — to track how each value is produced and consumed.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Produce a plain-language explanation of what the program does, how data moves, which conditions decide the path, and which paths are possible.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72025" y="1398449"/>
            <a:ext cx="4050506" cy="1928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1100" kern="0" spc="-6" dirty="0">
                <a:solidFill>
                  <a:schemeClr val="accent2"/>
                </a:solidFill>
                <a:latin typeface="Tinos"/>
                <a:ea typeface="Tinos"/>
                <a:cs typeface="Tinos" pitchFamily="34" charset="-120"/>
              </a:rPr>
              <a:t>② Change Impact Analysis</a:t>
            </a:r>
            <a:endParaRPr lang="en-US" sz="1100">
              <a:solidFill>
                <a:schemeClr val="accent2"/>
              </a:solidFill>
              <a:latin typeface="Tinos"/>
              <a:ea typeface="Tinos"/>
              <a:cs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72025" y="1705630"/>
            <a:ext cx="3857625" cy="17915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Accept a before and after version of the same program and build the AST and CFG for both.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Compare the two representations to identify exactly which AST nodes, variables, and conditions changed.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Propagate each change through control and data dependencies to find affected blocks, paths, and return statements.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ts val="122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Surface boundary input cases where behavior flips, and produce a structured change impact report.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11</a:t>
            </a:r>
            <a:endParaRPr lang="en-US" sz="620" dirty="0"/>
          </a:p>
        </p:txBody>
      </p:sp>
      <p:pic>
        <p:nvPicPr>
          <p:cNvPr id="10" name="Picture 9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PROPOSED 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521065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Proposed Methodology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5050"/>
            <a:ext cx="811530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79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nine-stage pipeline that turns raw C source into an explanation, then into a behavioral impact report. Each stage maps to a Compiler Design course topic.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797519" y="1277950"/>
            <a:ext cx="1030469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Lexical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79352" y="129938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31673" y="1289935"/>
            <a:ext cx="3983762" cy="1065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Tokenize C source using regular expressions and finite automata.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7519" y="1563700"/>
            <a:ext cx="612488" cy="154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Parsing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7129" y="158513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55281" y="1570962"/>
            <a:ext cx="4925031" cy="923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 tokens against a context-free grammar; recover from common syntax errors.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7519" y="1849450"/>
            <a:ext cx="1161812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AST Construction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1419" y="187088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4294" y="1856712"/>
            <a:ext cx="3325394" cy="125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an abstract syntax tree that discards syntactic sugar.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7519" y="2135200"/>
            <a:ext cx="985752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470"/>
              </a:lnSpc>
            </a:pPr>
            <a:r>
              <a:rPr lang="en-US" sz="1000" kern="0" spc="-5" dirty="0">
                <a:solidFill>
                  <a:srgbClr val="0F2A4A"/>
                </a:solidFill>
                <a:latin typeface="Tinos"/>
                <a:ea typeface="Tinos"/>
                <a:cs typeface="Tinos" pitchFamily="34" charset="-120"/>
              </a:rPr>
              <a:t>Symbol Table</a:t>
            </a:r>
            <a:endParaRPr lang="en-US" sz="1000" dirty="0">
              <a:latin typeface="Tinos"/>
              <a:ea typeface="Tin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39267" y="215663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2142" y="2142462"/>
            <a:ext cx="4145523" cy="923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 each identifier with type, scope, and line-number usage list.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519" y="2420950"/>
            <a:ext cx="155539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Three Address Code (TAC)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81436" y="244238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3757" y="2428212"/>
            <a:ext cx="3125066" cy="13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Lower the AST into linear three-operand instructions.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7519" y="2706700"/>
            <a:ext cx="1313563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Basic Blocks &amp; CFG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20900" y="272813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73221" y="2713962"/>
            <a:ext cx="4138665" cy="13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Partition TAC into basic blocks; connect them into a Control Flow Graph.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7519" y="2992450"/>
            <a:ext cx="1238341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Data-Flow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56718" y="301388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4316" y="2999712"/>
            <a:ext cx="3787922" cy="13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reaching definitions and def-use chains across the CFG.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7519" y="3278200"/>
            <a:ext cx="126372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Explanation 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78372" y="329963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16524" y="3285462"/>
            <a:ext cx="4431147" cy="82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Translate the compiler facts into a plain-language description of the program.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7519" y="3563950"/>
            <a:ext cx="1570157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Change &amp; Impact Analyzer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95500" y="3585381"/>
            <a:ext cx="158020" cy="1254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38375" y="3571212"/>
            <a:ext cx="5315650" cy="592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two versions, propagate changes through CFG + data flow, emit the impact report.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11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14350" y="124223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4350" y="1278272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4350" y="152798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350" y="1543427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4350" y="1829177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4350" y="1849772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4350" y="209948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350" y="2099481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4350" y="238523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4350" y="2385231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4350" y="267098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4350" y="2670981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4350" y="295673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4350" y="2956731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4350" y="324248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4350" y="3242481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4350" y="3528231"/>
            <a:ext cx="214313" cy="214313"/>
          </a:xfrm>
          <a:prstGeom prst="ellipse">
            <a:avLst/>
          </a:prstGeom>
          <a:solidFill>
            <a:srgbClr val="B865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4350" y="3528231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000" dirty="0"/>
          </a:p>
        </p:txBody>
      </p:sp>
      <p:pic>
        <p:nvPicPr>
          <p:cNvPr id="54" name="Picture 53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629650" cy="31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Architecture of Proposed Methodology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517922" y="1395586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369" y="1514909"/>
            <a:ext cx="2986043" cy="142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50344" y="1461594"/>
            <a:ext cx="651086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7625" y="1473274"/>
            <a:ext cx="716524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Editor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44292" y="1461594"/>
            <a:ext cx="459321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4292" y="1473274"/>
            <a:ext cx="459321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46475" y="1461594"/>
            <a:ext cx="796528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46475" y="1473274"/>
            <a:ext cx="796528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 Button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85866" y="1461594"/>
            <a:ext cx="765274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9070" y="1473274"/>
            <a:ext cx="778866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View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97575" y="1476846"/>
            <a:ext cx="2346971" cy="182800"/>
          </a:xfrm>
          <a:prstGeom prst="roundRect">
            <a:avLst>
              <a:gd name="adj" fmla="val 5074298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94003" y="1473274"/>
            <a:ext cx="2885629" cy="197346"/>
          </a:xfrm>
          <a:prstGeom prst="rect">
            <a:avLst/>
          </a:prstGeom>
          <a:noFill/>
        </p:spPr>
        <p:txBody>
          <a:bodyPr wrap="square" lIns="78581" tIns="28575" rIns="78581" bIns="28575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Tabs (AST / Symbols / TAC / CFG / Data Flow)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 rot="5400000">
            <a:off x="4470199" y="1853110"/>
            <a:ext cx="91440" cy="1697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8476" y="1985506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4923" y="2104829"/>
            <a:ext cx="2638857" cy="142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0898" y="2051514"/>
            <a:ext cx="964741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40898" y="2063194"/>
            <a:ext cx="964741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Explanation Engine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48501" y="2051514"/>
            <a:ext cx="869640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48501" y="2063194"/>
            <a:ext cx="869640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Analyzer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1004" y="2051514"/>
            <a:ext cx="839279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61004" y="2063194"/>
            <a:ext cx="839279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Analyzer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3145" y="2051514"/>
            <a:ext cx="887164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43145" y="2063194"/>
            <a:ext cx="887164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Generator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 rot="5400000">
            <a:off x="4493814" y="2438307"/>
            <a:ext cx="91440" cy="1697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922" y="2584873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4369" y="2704196"/>
            <a:ext cx="2638857" cy="142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ANALYSIS LAYER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50344" y="2650881"/>
            <a:ext cx="1016757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50344" y="2662561"/>
            <a:ext cx="1016757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Reaching Definitions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09963" y="2650881"/>
            <a:ext cx="796417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09963" y="2662561"/>
            <a:ext cx="796417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Def-Use Chains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9242" y="2650881"/>
            <a:ext cx="1050243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49242" y="2662561"/>
            <a:ext cx="1050243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Control-Flow Analysis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42347" y="2650881"/>
            <a:ext cx="1045555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42347" y="2662561"/>
            <a:ext cx="1045555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Affected-Path Tracing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 rot="5400000">
            <a:off x="4522153" y="2995166"/>
            <a:ext cx="91440" cy="1697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7922" y="3127562"/>
            <a:ext cx="8108156" cy="372814"/>
          </a:xfrm>
          <a:prstGeom prst="roundRect">
            <a:avLst>
              <a:gd name="adj" fmla="val 15329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4369" y="3202571"/>
            <a:ext cx="2007394" cy="2227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INTERMEDIATE REPRESENTATION LAYER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26567" y="3204955"/>
            <a:ext cx="996553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26567" y="3216635"/>
            <a:ext cx="996553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Address Code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69892" y="3204955"/>
            <a:ext cx="680107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420512" y="3216635"/>
            <a:ext cx="778866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Blocks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00680" y="3204955"/>
            <a:ext cx="960276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372341" y="3216635"/>
            <a:ext cx="960276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Flow Graph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 rot="5400000">
            <a:off x="4522154" y="3603133"/>
            <a:ext cx="91440" cy="1697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17922" y="3806376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64369" y="3925699"/>
            <a:ext cx="2638857" cy="142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 FRONT END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50344" y="3872385"/>
            <a:ext cx="395362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50344" y="3884065"/>
            <a:ext cx="395362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Lexer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188568" y="3872385"/>
            <a:ext cx="428625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188568" y="3884065"/>
            <a:ext cx="428625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60056" y="3872385"/>
            <a:ext cx="773311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614119" y="3884065"/>
            <a:ext cx="865185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AST Generator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476229" y="3872385"/>
            <a:ext cx="716049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444821" y="3884065"/>
            <a:ext cx="778866" cy="1946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Symbol Table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11</a:t>
            </a:r>
            <a:endParaRPr lang="en-US" sz="620" dirty="0"/>
          </a:p>
        </p:txBody>
      </p:sp>
      <p:pic>
        <p:nvPicPr>
          <p:cNvPr id="59" name="Picture 58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SYSTEM S/W &amp; H/W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629650" cy="31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System Software &amp; Hardware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5050"/>
            <a:ext cx="811530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79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is a web application backed by a Python-based compiler service. Requirements are deliberately modest so the project runs on a student laptop.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514350" y="1242231"/>
            <a:ext cx="3957638" cy="2453878"/>
          </a:xfrm>
          <a:prstGeom prst="roundRect">
            <a:avLst>
              <a:gd name="adj" fmla="val 2329"/>
            </a:avLst>
          </a:prstGeom>
          <a:solidFill>
            <a:srgbClr val="F2EF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513" y="1370819"/>
            <a:ext cx="3643313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F2A4A"/>
                </a:solidFill>
                <a:latin typeface="Tinos"/>
                <a:ea typeface="Tinos" pitchFamily="34" charset="-122"/>
                <a:cs typeface="Tinos" pitchFamily="34" charset="-120"/>
              </a:rPr>
              <a:t>Software Requirements</a:t>
            </a:r>
            <a:endParaRPr lang="en-US" sz="1100">
              <a:latin typeface="Tin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1513" y="1588703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513" y="1663712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7373" y="1663712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React.js + HTML5 + CSS3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1513" y="184007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513" y="1915083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97373" y="1915083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(Flask) REST API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1513" y="209144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513" y="2166454"/>
            <a:ext cx="1482138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 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7373" y="2166454"/>
            <a:ext cx="2227180" cy="153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PLY (Python Lex-Yacc) or ANTLR4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1513" y="2342815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513" y="2417825"/>
            <a:ext cx="1482138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 Rendering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97373" y="2417825"/>
            <a:ext cx="2227180" cy="153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Graphviz / D3.js for CFG &amp; AST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1513" y="2594186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513" y="2669195"/>
            <a:ext cx="1654349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Editor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97373" y="2669195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Monaco Editor (browser)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1513" y="2845557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513" y="2920566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7373" y="2920566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/>
              </a:rPr>
              <a:t>Neon</a:t>
            </a:r>
          </a:p>
        </p:txBody>
      </p:sp>
      <p:sp>
        <p:nvSpPr>
          <p:cNvPr id="25" name="Shape 23"/>
          <p:cNvSpPr/>
          <p:nvPr/>
        </p:nvSpPr>
        <p:spPr>
          <a:xfrm>
            <a:off x="671513" y="3096927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513" y="3171937"/>
            <a:ext cx="2230265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7373" y="3171937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Windows 10 / Linux / macOS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1513" y="3348298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513" y="3423307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Runtime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97373" y="3423307"/>
            <a:ext cx="2227180" cy="153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 3.10+, Node.js 18 LTS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72013" y="1242231"/>
            <a:ext cx="3957638" cy="2453878"/>
          </a:xfrm>
          <a:prstGeom prst="roundRect">
            <a:avLst>
              <a:gd name="adj" fmla="val 2329"/>
            </a:avLst>
          </a:prstGeom>
          <a:solidFill>
            <a:srgbClr val="F2EF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29175" y="1370819"/>
            <a:ext cx="3643313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Hardware Requirements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4829175" y="1588703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9175" y="1663712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5035" y="1663712"/>
            <a:ext cx="2227180" cy="153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 Core i5 / Ryzen 5 (or equivalent)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29175" y="184007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9175" y="1915083"/>
            <a:ext cx="2230265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35" y="1915083"/>
            <a:ext cx="2227180" cy="153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GB minimum, 16 GB recommended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29175" y="209144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9175" y="2166454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5035" y="2166454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256 GB SSD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29175" y="2342815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9175" y="2417825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Display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35" y="2417825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1920 × 1080 (full HD)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29175" y="2594186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9175" y="2669195"/>
            <a:ext cx="1806797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55035" y="2669195"/>
            <a:ext cx="2227180" cy="153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Broadband (for CDN fonts / icons)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29175" y="2845557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9175" y="2920566"/>
            <a:ext cx="1654349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Peripherals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55035" y="2920566"/>
            <a:ext cx="2117452" cy="153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 keyboard &amp; mouse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11</a:t>
            </a:r>
            <a:endParaRPr lang="en-US" sz="620" dirty="0"/>
          </a:p>
        </p:txBody>
      </p:sp>
      <p:pic>
        <p:nvPicPr>
          <p:cNvPr id="52" name="Picture 51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Conclusion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135075"/>
            <a:ext cx="8115300" cy="555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CodeLens demonstrates that the structures a compiler already builds — AST, symbol table, TAC, basic blocks, CFG, def-use chains — are sufficient to explain a program and to trace the behavioral impact of a change, without any AI or machine learning. The project covers most topics from the Compiler Design course and applies them to a problem programmers face every day: understanding code they did not write, and changing it safely.</a:t>
            </a:r>
            <a:endParaRPr lang="en-US" sz="1000">
              <a:latin typeface="Carlit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4904" y="2297794"/>
            <a:ext cx="3971925" cy="1375172"/>
          </a:xfrm>
          <a:prstGeom prst="roundRect">
            <a:avLst>
              <a:gd name="adj" fmla="val 4156"/>
            </a:avLst>
          </a:prstGeom>
          <a:solidFill>
            <a:srgbClr val="F2EF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2067" y="2426382"/>
            <a:ext cx="365760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DELIVERED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067" y="2651410"/>
            <a:ext cx="3657600" cy="8589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spcAft>
                <a:spcPts val="565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self-built compiler front end for a subset of C.</a:t>
            </a:r>
            <a:endParaRPr lang="en-US" sz="800" dirty="0"/>
          </a:p>
          <a:p>
            <a:pPr marL="0" indent="0" algn="l">
              <a:lnSpc>
                <a:spcPts val="1180"/>
              </a:lnSpc>
              <a:spcAft>
                <a:spcPts val="565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plain-language explanation engine driven by data-flow facts.</a:t>
            </a:r>
            <a:endParaRPr lang="en-US" sz="800" dirty="0"/>
          </a:p>
          <a:p>
            <a:pPr marL="0" indent="0" algn="l">
              <a:lnSpc>
                <a:spcPts val="1180"/>
              </a:lnSpc>
              <a:spcAft>
                <a:spcPts val="565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change impact report that surfaces boundary cases and traceable reasons.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48279" y="2297794"/>
            <a:ext cx="3971925" cy="1375172"/>
          </a:xfrm>
          <a:prstGeom prst="roundRect">
            <a:avLst>
              <a:gd name="adj" fmla="val 4156"/>
            </a:avLst>
          </a:prstGeom>
          <a:solidFill>
            <a:srgbClr val="F2EF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5442" y="2426382"/>
            <a:ext cx="365760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05442" y="2651410"/>
            <a:ext cx="3657600" cy="101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spcAft>
                <a:spcPts val="565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Bridges compiler theory and everyday developer tooling.</a:t>
            </a:r>
            <a:endParaRPr lang="en-US" sz="800" dirty="0"/>
          </a:p>
          <a:p>
            <a:pPr marL="0" indent="0" algn="l">
              <a:lnSpc>
                <a:spcPts val="1180"/>
              </a:lnSpc>
              <a:spcAft>
                <a:spcPts val="565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and auditable — every conclusion traces back to a CFG / def-use fact.</a:t>
            </a:r>
            <a:endParaRPr lang="en-US" sz="800" dirty="0"/>
          </a:p>
          <a:p>
            <a:pPr marL="0" indent="0" algn="l">
              <a:lnSpc>
                <a:spcPts val="1180"/>
              </a:lnSpc>
              <a:spcAft>
                <a:spcPts val="565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Extensible to richer analyses (pointer analysis, call graphs, inter-procedural data flow).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11</a:t>
            </a:r>
            <a:endParaRPr lang="en-US" sz="620" dirty="0"/>
          </a:p>
        </p:txBody>
      </p:sp>
      <p:pic>
        <p:nvPicPr>
          <p:cNvPr id="16" name="Picture 15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REFERENCES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30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References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360045" y="1225298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1538" y="1239585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9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Aho, A. V., Lam, M. S., Sethi, R., &amp; Ullman, J. D. (2007). </a:t>
            </a:r>
            <a:r>
              <a:rPr lang="en-US" sz="79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Compilers: Principles, Techniques, and Tools</a:t>
            </a:r>
            <a:r>
              <a:rPr lang="en-US" sz="79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(2nd ed.). Pearson. — The Dragon Book.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14350" y="1536051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045" y="1675354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1538" y="1689642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Cooper, K. D., &amp; Torczon, L. (2011).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 Compiler</a:t>
            </a: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(2nd ed.). Morgan Kaufmann.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350" y="1986107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045" y="2125410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1538" y="2139698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Muchnick, S. S. (1997).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Compiler Design and Implementation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Morgan Kaufmann.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4350" y="2436164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045" y="2575467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1538" y="2589754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9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Falleri, J.-R., Matulevičius, F., &amp; Biggio, A. (2014). Fine-grained and accurate source code differencing. </a:t>
            </a:r>
            <a:r>
              <a:rPr lang="en-US" sz="790" i="1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Proc. ASE 2014</a:t>
            </a:r>
            <a:r>
              <a:rPr lang="en-US" sz="79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313–324. — GumTree.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514350" y="2886220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045" y="3025523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1538" y="3039810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Apted, T., &amp; Kay, A. (2014). Generic language technology. In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Programming Language Implementation and Logic Programming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(PLILP). — ANTLR.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4350" y="3336276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045" y="3475579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1538" y="3489867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Beazley, D. M. (2017).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PLY (Python Lex-Yacc)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documentation. https://www.dabeaz.com/ply/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350" y="3786332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045" y="3925635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1538" y="3939923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 Project. (2024).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git-diff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Show changes between commits, commit and working tree, etc. https://git-scm.com/docs/git-diff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236389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045" y="4375692"/>
            <a:ext cx="411480" cy="1851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1538" y="4389979"/>
            <a:ext cx="7758113" cy="16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van Heesch, D. (2024).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Doxygen: Generate documentation from source code.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https://www.doxygen.nl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11</a:t>
            </a:r>
            <a:endParaRPr lang="en-US" sz="620" dirty="0"/>
          </a:p>
        </p:txBody>
      </p:sp>
      <p:pic>
        <p:nvPicPr>
          <p:cNvPr id="5" name="Picture 4" descr="MAPS &amp; DIRECTIONS - Best Private University in Telangana ..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7762" y="1936284"/>
            <a:ext cx="2688365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800" kern="0" spc="13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400550" y="223989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1350"/>
            <a:ext cx="8595248" cy="6803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60"/>
              </a:lnSpc>
              <a:buNone/>
            </a:pPr>
            <a:r>
              <a:rPr lang="en-US" sz="4725" kern="0" spc="-71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Thank You</a:t>
            </a:r>
            <a:endParaRPr lang="en-US" sz="4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9169</Words>
  <Application>Microsoft Office PowerPoint</Application>
  <PresentationFormat>On-screen Show (16:9)</PresentationFormat>
  <Paragraphs>432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Krishita myneni</cp:lastModifiedBy>
  <cp:revision>165</cp:revision>
  <dcterms:created xsi:type="dcterms:W3CDTF">2026-09-22T06:41:00Z</dcterms:created>
  <dcterms:modified xsi:type="dcterms:W3CDTF">2026-10-14T04:57:26Z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F9E6B891F7CF4AFBBA28A5B20575ABE8_12</vt:lpwstr>
  </property>
  <property fmtid="{D5CDD505-2E9C-101B-9397-08002B2CF9AE}" pid="3" name="KSOProductBuildVer">
    <vt:lpwstr>1033-12.1.0.29162</vt:lpwstr>
  </property>
</Properties>
</file>